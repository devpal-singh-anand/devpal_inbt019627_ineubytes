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53" y="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814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011680"/>
            <a:ext cx="5943600" cy="5943600"/>
          </a:xfrm>
          <a:prstGeom prst="ellipse">
            <a:avLst/>
          </a:prstGeom>
          <a:solidFill>
            <a:srgbClr val="1624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377440" y="4206240"/>
            <a:ext cx="4572000" cy="4572000"/>
          </a:xfrm>
          <a:prstGeom prst="ellipse">
            <a:avLst/>
          </a:prstGeom>
          <a:solidFill>
            <a:srgbClr val="132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&amp; STAKEHOLDER COMMUNICATION  ·  TASK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Olist Sales Analytics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96,478 orders of raw e-commerce data into decisions the business can act 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623560"/>
            <a:ext cx="2926080" cy="0"/>
          </a:xfrm>
          <a:prstGeom prst="line">
            <a:avLst/>
          </a:prstGeom>
          <a:noFill/>
          <a:ln w="12700">
            <a:solidFill>
              <a:srgbClr val="334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Devpal Singh Anand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INBT019627   ·   DAINB20626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1945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20624" cy="420624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43584" y="1453896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166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2404872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404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43584" y="2350008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Audience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044952"/>
            <a:ext cx="5166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3300984"/>
            <a:ext cx="420624" cy="420624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300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43584" y="3246120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Scorecard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941064"/>
            <a:ext cx="5166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4197096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43584" y="4142232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1: Geographic Concentration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837176"/>
            <a:ext cx="5166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" y="5093208"/>
            <a:ext cx="420624" cy="420624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5093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43584" y="5038344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2: Delivery Speed Drives Reviews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55080" y="150876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5508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58584" y="1453896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3: Payment Behavior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355080" y="2148840"/>
            <a:ext cx="5166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355080" y="2404872"/>
            <a:ext cx="420624" cy="420624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55080" y="2404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58584" y="2350008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Chart Improvements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55080" y="3044952"/>
            <a:ext cx="5166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55080" y="3300984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55080" y="3300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958584" y="3246120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 (Power BI &amp; Tableau)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355080" y="3941064"/>
            <a:ext cx="5166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355080" y="4197096"/>
            <a:ext cx="420624" cy="420624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55080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958584" y="4142232"/>
            <a:ext cx="4526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355080" y="4837176"/>
            <a:ext cx="5166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SALES ANALYTICS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1945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4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needs to understand revenue drivers, customer behavior, and logistics performance.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61518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615184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R$ 13.6M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3474720"/>
            <a:ext cx="234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across 96,478 delivered orders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2423160"/>
            <a:ext cx="261518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64992" y="2423160"/>
            <a:ext cx="2615184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02152" y="274320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02152" y="3474720"/>
            <a:ext cx="234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comes from São Paulo — a geographic concentration risk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1344" y="2423160"/>
            <a:ext cx="261518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81344" y="2423160"/>
            <a:ext cx="2615184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18504" y="274320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91.9%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18504" y="3474720"/>
            <a:ext cx="234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delivery; faster delivery is strongly associated with better review scores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97696" y="2423160"/>
            <a:ext cx="261518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997696" y="2423160"/>
            <a:ext cx="2615184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34856" y="274320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34856" y="3474720"/>
            <a:ext cx="23408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 — the business is one-time-purchase driven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8680" y="50749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marketing beyond SP, prioritize fast delivery, and build retention programs.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SALES ANALYTICS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1945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Audience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212080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revenue concentrated, and what drives customer satisfaction?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971800"/>
            <a:ext cx="4572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493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Olist Operations Manager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91363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actionable insights to optimize logistics and marketing spend.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1371600"/>
            <a:ext cx="56235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16459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ANSWERED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14884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207568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 / categories drive the most revenue?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10896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303580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delivery speed affect customer reviews?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406908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399592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payment methods do customers prefer?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502920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936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495604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customers returning after their first purchase?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SALES ANALYTICS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1945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Scorecard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42616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R$ 13,591,644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55848" y="1280160"/>
            <a:ext cx="2642616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93008" y="137160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96,478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493008" y="1847088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63056" y="1280160"/>
            <a:ext cx="2642616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0216" y="137160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R$ 137.75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300216" y="1847088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70264" y="1280160"/>
            <a:ext cx="2642616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07424" y="1371600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96,096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107424" y="1847088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404872"/>
            <a:ext cx="2642616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2496312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3.12%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85800" y="2971800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55848" y="2404872"/>
            <a:ext cx="2642616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93008" y="2496312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4.09 / 5.0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493008" y="2971800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Score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63056" y="2404872"/>
            <a:ext cx="2642616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0216" y="2496312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91.89%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300216" y="2971800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70264" y="2404872"/>
            <a:ext cx="2642616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07424" y="2496312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12.6 days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107424" y="2971800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1050" dirty="0"/>
          </a:p>
        </p:txBody>
      </p:sp>
      <p:pic>
        <p:nvPicPr>
          <p:cNvPr id="28" name="Image 0" descr="/home/claude/build/media/image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9754" y="3666744"/>
            <a:ext cx="3992187" cy="23317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48640" y="607161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KPI Scorecard with live formulas — all values reference the Cleaned_Data table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SALES ANALYTICS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Concentration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72184"/>
            <a:ext cx="54864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state generates 38% of total revenue (R$ 5.07M).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40864"/>
            <a:ext cx="54864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heavily concentrated in one region.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072384"/>
            <a:ext cx="54864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SP experiences a logistics disruption, 38% of revenue is at risk.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941064"/>
            <a:ext cx="54864" cy="6400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886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marketing spend to grow RJ, MG, and RS states.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715000" y="1417320"/>
            <a:ext cx="5897880" cy="4572000"/>
          </a:xfrm>
          <a:prstGeom prst="roundRect">
            <a:avLst>
              <a:gd name="adj" fmla="val 16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0" descr="/home/claude/build/media/image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645920"/>
            <a:ext cx="5440680" cy="325158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43600" y="557784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— Revenue by Category (showing concentration)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SALES ANALYTICS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Speed Drives Reviews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72184"/>
            <a:ext cx="54864" cy="6400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91.9% of orders arrive on time. Average delivery takes 12.6 days.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40864"/>
            <a:ext cx="54864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 is strongly associated with better customer reviews.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072384"/>
            <a:ext cx="54864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delivery times are strongly associated with lower review scores.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803904"/>
            <a:ext cx="54864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7490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4023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logistics to keep deliveries under 14 days.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235458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2354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4.42 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5102352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0–7 DAY DELIVERY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086100" y="4572000"/>
            <a:ext cx="235458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86100" y="4663440"/>
            <a:ext cx="23545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3.12 ★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086100" y="5102352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 DAY DELIVERY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15000" y="1417320"/>
            <a:ext cx="5897880" cy="4572000"/>
          </a:xfrm>
          <a:prstGeom prst="roundRect">
            <a:avLst>
              <a:gd name="adj" fmla="val 16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0" descr="/home/claude/build/media/image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645920"/>
            <a:ext cx="5440680" cy="325432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943600" y="557784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— Average Delivery Days by State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SALES ANALYTICS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Behavior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72184"/>
            <a:ext cx="54864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dominates with 78.3% of payment value.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03704"/>
            <a:ext cx="54864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consumers rely heavily on installments — 33.15% pay in full, 16.16% use 2 installments, and top plans go past 10.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346704"/>
            <a:ext cx="54864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2918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3566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installment options would hurt conversion.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54864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0233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4297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payment flows support flexible installment plans.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715000" y="1417320"/>
            <a:ext cx="5897880" cy="4572000"/>
          </a:xfrm>
          <a:prstGeom prst="roundRect">
            <a:avLst>
              <a:gd name="adj" fmla="val 16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0" descr="/home/claude/build/media/image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1645920"/>
            <a:ext cx="5440680" cy="325158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43600" y="557784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— Revenue by Payment Type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SALES ANALYTICS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IMPROVEMENT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/ After: Excel Data Cleaning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pic>
        <p:nvPicPr>
          <p:cNvPr id="8" name="Image 0" descr="/home/claude/build/media/image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2155457"/>
            <a:ext cx="4846320" cy="323288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3716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46520" y="160020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4652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pic>
        <p:nvPicPr>
          <p:cNvPr id="12" name="Image 1" descr="/home/claude/build/media/image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92240" y="2481229"/>
            <a:ext cx="4846320" cy="258134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68680" y="56692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had trailing spaces, mixed casing, and text dates. The cleaned version uses TRIM, PROPER, and DATEVALUE formulas — all auditable, none hardcoded.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SALES ANALYTICS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IMPROVEMENT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/ After: Power BI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pic>
        <p:nvPicPr>
          <p:cNvPr id="8" name="Image 0" descr="/home/claude/build/media/image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2487044"/>
            <a:ext cx="4846320" cy="25697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3716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46520" y="160020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4652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pic>
        <p:nvPicPr>
          <p:cNvPr id="12" name="Image 1" descr="/home/claude/build/media/image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92240" y="2336804"/>
            <a:ext cx="4846320" cy="2870191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68680" y="56692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Power BI visuals had no titles, default colors, and no data labels. The polished version adds takeaway titles, highlight colors, and clear labels.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SALES ANALYTICS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· TABLEAU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Revenue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023360" cy="457200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17627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(Top 10)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69748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277063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2918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336499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43000" y="3246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Payment Type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388620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395935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43000" y="3840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Revenue Tier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4572000"/>
            <a:ext cx="3474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47548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visuals are interactive — clicking any element filters the others. Built for the sales side of the business: which categories sell, how revenue trends over time, and how customers pay.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92040" y="1417320"/>
            <a:ext cx="67208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0" descr="/home/claude/build/media/Dashboard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66360" y="1968797"/>
            <a:ext cx="6172200" cy="3469047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SALES ANALYTICS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· TABLEAU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&amp; Customer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023360" cy="4572000"/>
          </a:xfrm>
          <a:prstGeom prst="roundRect">
            <a:avLst>
              <a:gd name="adj" fmla="val 1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17627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Days by State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269748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277063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43000" y="2651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Score by Category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2918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336499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43000" y="3246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 Distribution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388620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395935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43000" y="3840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Revenue Tier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4572000"/>
            <a:ext cx="3474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47548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answers: where are deliveries slow, and which categories get the best reviews? Designed for the operations team.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92040" y="1417320"/>
            <a:ext cx="67208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0" descr="/home/claude/build/media/Dashboard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66360" y="2066947"/>
            <a:ext cx="6172200" cy="3272746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SALES ANALYTICS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1945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463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Diversify Geographic Focus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49240" y="1508760"/>
            <a:ext cx="0" cy="5943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23560" y="146304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15–20% of marketing budget from SP to RJ, MG, RS to reduce concentration risk.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256032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2468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Fast Delivery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349240" y="2514600"/>
            <a:ext cx="0" cy="5943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23560" y="246888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logistics to keep deliveries under 14 days. Faster delivery is associated with higher review scores.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3474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Retention Programs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349240" y="3520440"/>
            <a:ext cx="0" cy="5943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23560" y="347472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 repeat purchase rate indicates a significant retention opportunity. Launch loyalty and repeat-order incentives.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389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" y="457200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54480" y="44805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 Installment Options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349240" y="4526280"/>
            <a:ext cx="0" cy="5943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23560" y="448056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of credit card payments use 2+ installments — don't remove this feature.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77240" y="557784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" y="5577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54480" y="54864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on Top 25% Product Categories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349240" y="5532120"/>
            <a:ext cx="0" cy="5943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23560" y="548640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generate 79% of revenue. Prioritize inventory and marketing for these.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SALES ANALYTICS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5855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377440"/>
            <a:ext cx="5486400" cy="5486400"/>
          </a:xfrm>
          <a:prstGeom prst="ellipse">
            <a:avLst/>
          </a:prstGeom>
          <a:solidFill>
            <a:srgbClr val="1624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61120" y="3840480"/>
            <a:ext cx="5486400" cy="5486400"/>
          </a:xfrm>
          <a:prstGeom prst="ellipse">
            <a:avLst/>
          </a:prstGeom>
          <a:solidFill>
            <a:srgbClr val="132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2926080" cy="0"/>
          </a:xfrm>
          <a:prstGeom prst="line">
            <a:avLst/>
          </a:prstGeom>
          <a:noFill/>
          <a:ln w="12700">
            <a:solidFill>
              <a:srgbClr val="334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Devpal Singh Anand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INBT019627  ·  DAINB20626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125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(96,478 orders)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</a:t>
            </a:r>
            <a:r>
              <a:rPr lang="en-US" sz="125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Excel · Power BI · Tableau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895</Words>
  <Application>Microsoft Office PowerPoint</Application>
  <PresentationFormat>Widescreen</PresentationFormat>
  <Paragraphs>190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Devpal Singh Anand - [AA.SC.P2MCA25017005]</cp:lastModifiedBy>
  <cp:revision>3</cp:revision>
  <dcterms:created xsi:type="dcterms:W3CDTF">2026-08-04T11:25:33Z</dcterms:created>
  <dcterms:modified xsi:type="dcterms:W3CDTF">2026-08-04T11:25:33Z</dcterms:modified>
</cp:coreProperties>
</file>